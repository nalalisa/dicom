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1F5463-25CB-0171-0286-B464041AC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CE8F33-4405-A9A1-3F2E-E5F9AB1C2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FBE3BE-2371-8EF1-4346-12493DF20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5885C-C986-46E9-B9FE-DEEBE740477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70CEBC-417A-0124-F789-161CA8F64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0D130C-BB4E-D3EF-3E14-633FC1BCA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937AA-B661-43F2-B0CA-8C96159440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968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CE2A97-F583-6957-657C-6C0A79E4F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3FA134-AE19-320F-4AAE-247F66778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55DE03-CA72-3EC8-16F5-CEBB0CA52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5885C-C986-46E9-B9FE-DEEBE740477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80184B-06E3-1567-78DF-71ABDA03D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148C23-9F00-27AC-2753-C3BCB481B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937AA-B661-43F2-B0CA-8C96159440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3065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59C9BE-F9D3-5A43-96F9-7EBA1A1C3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3D4336-334A-642D-F3A3-F52764903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D032BC-4DB4-EC65-DD9E-18DBB44CF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5885C-C986-46E9-B9FE-DEEBE740477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55F556-C3D8-2B0B-6AA2-5257D1278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44F80A-2B04-E521-46B9-2605FEA16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937AA-B661-43F2-B0CA-8C96159440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662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AC5190-D7EB-F151-1227-91A871BFF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136718-6F0C-B03F-F40F-3343A61E5E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FBC1C7-E601-8CB6-F793-51732D5B6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B8A553-8DC5-98AD-424A-5A6BDFE62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5885C-C986-46E9-B9FE-DEEBE740477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AA57BF-32A7-A729-7664-F4012D99D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157CAA-8EFB-3830-AAFE-ACA68E773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937AA-B661-43F2-B0CA-8C96159440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1882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0A8A9D-81F2-E89E-534B-518E396A6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523228-C8E7-0BEA-30A4-50F4AEA2F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1330DE-F0EC-E859-BA51-B58E00EB9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98F77DE-A431-8CB1-A61B-232595AB52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45C4A71-EF10-F749-7B82-3777377456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2EE1DE-DC62-0982-3E36-64E5BAEE0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5885C-C986-46E9-B9FE-DEEBE740477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2B87C98-39A8-B163-93C1-B230F6852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8B10A38-4E13-5CC1-63FE-8C822470B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937AA-B661-43F2-B0CA-8C96159440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332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7F996B-BC77-DCB1-DF71-4E46A00C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85D2731-A4D1-605A-BA2B-901D5DF07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5885C-C986-46E9-B9FE-DEEBE740477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03A451-825E-E7F8-E46C-5D03E5EAD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997D8CB-B6BA-6EE9-F257-5B5B1C446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937AA-B661-43F2-B0CA-8C96159440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681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EF201F3-9115-6497-27CD-8A320A16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5885C-C986-46E9-B9FE-DEEBE740477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6E48D20-5960-942B-BF10-893FE050D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666239-1B7D-E498-57F7-B9FE6B989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937AA-B661-43F2-B0CA-8C96159440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241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E89C86-9DCE-55FC-B99D-8215886D4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AC37B1-BF64-54D0-3E6E-6CDD29692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B9D403-DAE6-CAFA-4F38-211CA12E6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A009A1-9EE8-6A34-02D7-FA3A2A81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5885C-C986-46E9-B9FE-DEEBE740477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6DE3CA-EAF2-5B7B-22C4-6304E62AE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2CCCE8-6187-220F-E773-4797E3781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937AA-B661-43F2-B0CA-8C96159440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5325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5CF994-FF16-84D7-B56E-8A5FE637E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768673-D44E-7BEE-81F4-4B3A7FB42E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9367DA-413A-D19C-F61B-ADC59837D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25A5F5-7E5D-A62E-6031-C94181BB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5885C-C986-46E9-B9FE-DEEBE740477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53FE8B-0941-4CE2-E316-8B48FC3A7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7DB17D-B9BE-2F8B-006B-029B0718C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937AA-B661-43F2-B0CA-8C96159440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923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5206C-0258-9DE0-078E-AD0A409B3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0CA290-02AF-35F7-06C8-362BA54D3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D3F1DA-DCA3-CD8E-7129-5FD6F0C99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5885C-C986-46E9-B9FE-DEEBE740477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37C95D-603E-5580-1811-1B814A8F1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248EF3-D7B4-65C7-110F-7C4288A8E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937AA-B661-43F2-B0CA-8C96159440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333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E043E7-CA8F-5190-9048-94F3434F7C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3F680AF-E206-3095-756D-9411F2D06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330E2E-DD76-BF29-6C9F-BB3A1E476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5885C-C986-46E9-B9FE-DEEBE740477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22FA59-EB74-1C45-BA1A-2245C3040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0328E1-992F-D262-DA2E-8BA18C6FF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937AA-B661-43F2-B0CA-8C96159440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938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F5A556-350D-8806-2493-5518D35E5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9932E0-91CA-4007-D130-F400A2168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F32BB3-A70A-C113-90CE-851B9E7A2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5885C-C986-46E9-B9FE-DEEBE740477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79F01E-AAE4-B0CF-AC90-9E808E6C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E6AB02-B631-D129-4B18-6569D933C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937AA-B661-43F2-B0CA-8C96159440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028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5139E93-BF67-68E6-57BF-399811595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4837F7-F2AD-F02B-2DE1-6667C0910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9BED97-BC43-83F1-54E6-6B07B61E9D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25885C-C986-46E9-B9FE-DEEBE740477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5D205D-89F5-19CD-F060-4B7664583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4B0D95-C4C5-7F67-5E26-60BDDE102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E937AA-B661-43F2-B0CA-8C96159440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805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6C93B4-1519-A3AA-3D85-30DD306AC1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GE 3D TEE DICOM </a:t>
            </a:r>
            <a:r>
              <a:rPr lang="ko-KR" altLang="en-US"/>
              <a:t>구조 분석 및 </a:t>
            </a:r>
            <a:r>
              <a:rPr lang="en-US" altLang="ko-KR"/>
              <a:t>Spacing </a:t>
            </a:r>
            <a:r>
              <a:rPr lang="ko-KR" altLang="en-US"/>
              <a:t>추출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9D36295-FB11-83B2-0284-9CB7D86120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DICOM </a:t>
            </a:r>
            <a:r>
              <a:rPr lang="ko-KR" altLang="en-US"/>
              <a:t>표준</a:t>
            </a:r>
            <a:r>
              <a:rPr lang="en-US" altLang="ko-KR"/>
              <a:t>, GE Private </a:t>
            </a:r>
            <a:r>
              <a:rPr lang="ko-KR" altLang="en-US"/>
              <a:t>구조</a:t>
            </a:r>
            <a:r>
              <a:rPr lang="en-US" altLang="ko-KR"/>
              <a:t>, </a:t>
            </a:r>
            <a:r>
              <a:rPr lang="ko-KR" altLang="en-US"/>
              <a:t>트로이 목마 전략</a:t>
            </a:r>
            <a:r>
              <a:rPr lang="en-US" altLang="ko-KR"/>
              <a:t>, NRRD mm </a:t>
            </a:r>
            <a:r>
              <a:rPr lang="ko-KR" altLang="en-US"/>
              <a:t>해석</a:t>
            </a:r>
          </a:p>
        </p:txBody>
      </p:sp>
    </p:spTree>
    <p:extLst>
      <p:ext uri="{BB962C8B-B14F-4D97-AF65-F5344CB8AC3E}">
        <p14:creationId xmlns:p14="http://schemas.microsoft.com/office/powerpoint/2010/main" val="1531235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E2F772-FCE9-5337-E586-D266ECE6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발표 목적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F40217-B3AC-7C1E-93C5-714292576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400"/>
              <a:t>DICOM</a:t>
            </a:r>
            <a:r>
              <a:rPr lang="ko-KR" altLang="en-US" sz="2400"/>
              <a:t>의 의미와 표준 구조를 정리한다</a:t>
            </a:r>
          </a:p>
          <a:p>
            <a:r>
              <a:rPr lang="en-US" altLang="ko-KR" sz="2400"/>
              <a:t>GE 3D TEE DICOM</a:t>
            </a:r>
            <a:r>
              <a:rPr lang="ko-KR" altLang="en-US" sz="2400"/>
              <a:t>이 왜 일반 </a:t>
            </a:r>
            <a:r>
              <a:rPr lang="en-US" altLang="ko-KR" sz="2400"/>
              <a:t>DICOM</a:t>
            </a:r>
            <a:r>
              <a:rPr lang="ko-KR" altLang="en-US" sz="2400"/>
              <a:t>과 다르게 보이는지 설명한다</a:t>
            </a:r>
          </a:p>
          <a:p>
            <a:r>
              <a:rPr lang="ko-KR" altLang="en-US" sz="2400"/>
              <a:t>왜 </a:t>
            </a:r>
            <a:r>
              <a:rPr lang="en-US" altLang="ko-KR" sz="2400"/>
              <a:t>GE</a:t>
            </a:r>
            <a:r>
              <a:rPr lang="ko-KR" altLang="en-US" sz="2400"/>
              <a:t>가 트로이 목마형 구조를 선택했는지 설명한다</a:t>
            </a:r>
          </a:p>
          <a:p>
            <a:r>
              <a:rPr lang="ko-KR" altLang="en-US" sz="2400"/>
              <a:t>실제 </a:t>
            </a:r>
            <a:r>
              <a:rPr lang="en-US" altLang="ko-KR" sz="2400"/>
              <a:t>spacing</a:t>
            </a:r>
            <a:r>
              <a:rPr lang="ko-KR" altLang="en-US" sz="2400"/>
              <a:t>을 얻는 방법과 </a:t>
            </a:r>
            <a:r>
              <a:rPr lang="en-US" altLang="ko-KR" sz="2400"/>
              <a:t>NRRD</a:t>
            </a:r>
            <a:r>
              <a:rPr lang="ko-KR" altLang="en-US" sz="2400"/>
              <a:t>에서 </a:t>
            </a:r>
            <a:r>
              <a:rPr lang="en-US" altLang="ko-KR" sz="2400"/>
              <a:t>mm</a:t>
            </a:r>
            <a:r>
              <a:rPr lang="ko-KR" altLang="en-US" sz="2400"/>
              <a:t>로 해석하는 원리를 정리한다</a:t>
            </a:r>
          </a:p>
        </p:txBody>
      </p:sp>
    </p:spTree>
    <p:extLst>
      <p:ext uri="{BB962C8B-B14F-4D97-AF65-F5344CB8AC3E}">
        <p14:creationId xmlns:p14="http://schemas.microsoft.com/office/powerpoint/2010/main" val="1473949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B749D3-9E56-4E96-466E-3AE4F53BA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DICOM</a:t>
            </a:r>
            <a:r>
              <a:rPr lang="ko-KR" altLang="en-US"/>
              <a:t>이란 무엇인가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6B2BFA-1281-DEAA-A1FF-E96EC5EA1F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400"/>
              <a:t>Digital Imaging and Communications in Medicine</a:t>
            </a:r>
            <a:r>
              <a:rPr lang="ko-KR" altLang="en-US" sz="2400"/>
              <a:t>의 약자다</a:t>
            </a:r>
          </a:p>
          <a:p>
            <a:r>
              <a:rPr lang="ko-KR" altLang="en-US" sz="2400"/>
              <a:t>의료 영상과 환자</a:t>
            </a:r>
            <a:r>
              <a:rPr lang="en-US" altLang="ko-KR" sz="2400"/>
              <a:t>/</a:t>
            </a:r>
            <a:r>
              <a:rPr lang="ko-KR" altLang="en-US" sz="2400"/>
              <a:t>검사</a:t>
            </a:r>
            <a:r>
              <a:rPr lang="en-US" altLang="ko-KR" sz="2400"/>
              <a:t>/</a:t>
            </a:r>
            <a:r>
              <a:rPr lang="ko-KR" altLang="en-US" sz="2400"/>
              <a:t>장비 메타데이터를 함께 저장하는 국제 표준이다</a:t>
            </a:r>
          </a:p>
          <a:p>
            <a:r>
              <a:rPr lang="ko-KR" altLang="en-US" sz="2400"/>
              <a:t>컴퓨터공학적으로는 </a:t>
            </a:r>
            <a:r>
              <a:rPr lang="en-US" altLang="ko-KR" sz="2400"/>
              <a:t>Tag, VR, Length, Value</a:t>
            </a:r>
            <a:r>
              <a:rPr lang="ko-KR" altLang="en-US" sz="2400"/>
              <a:t>가 반복되는 직렬화 바이트 스트림이다</a:t>
            </a:r>
          </a:p>
          <a:p>
            <a:r>
              <a:rPr lang="ko-KR" altLang="en-US" sz="2400"/>
              <a:t>병원 시스템 간 상호운용성을 위해 최소한의 외형과 규약을 따라야 한다</a:t>
            </a:r>
          </a:p>
        </p:txBody>
      </p:sp>
    </p:spTree>
    <p:extLst>
      <p:ext uri="{BB962C8B-B14F-4D97-AF65-F5344CB8AC3E}">
        <p14:creationId xmlns:p14="http://schemas.microsoft.com/office/powerpoint/2010/main" val="3360885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925E3C-EC63-1C58-86CD-07800B33E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왜 </a:t>
            </a:r>
            <a:r>
              <a:rPr lang="en-US" altLang="ko-KR"/>
              <a:t>GE</a:t>
            </a:r>
            <a:r>
              <a:rPr lang="ko-KR" altLang="en-US"/>
              <a:t>도 </a:t>
            </a:r>
            <a:r>
              <a:rPr lang="en-US" altLang="ko-KR"/>
              <a:t>DICOM</a:t>
            </a:r>
            <a:r>
              <a:rPr lang="ko-KR" altLang="en-US"/>
              <a:t>을 제공하는가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9C1AE0-0C14-2331-2458-AF5F86CB4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400"/>
              <a:t>병원은 </a:t>
            </a:r>
            <a:r>
              <a:rPr lang="en-US" altLang="ko-KR" sz="2400"/>
              <a:t>GE </a:t>
            </a:r>
            <a:r>
              <a:rPr lang="ko-KR" altLang="en-US" sz="2400"/>
              <a:t>장비만이 아니라 </a:t>
            </a:r>
            <a:r>
              <a:rPr lang="en-US" altLang="ko-KR" sz="2400"/>
              <a:t>PACS, </a:t>
            </a:r>
            <a:r>
              <a:rPr lang="ko-KR" altLang="en-US" sz="2400"/>
              <a:t>라우터</a:t>
            </a:r>
            <a:r>
              <a:rPr lang="en-US" altLang="ko-KR" sz="2400"/>
              <a:t>, </a:t>
            </a:r>
            <a:r>
              <a:rPr lang="ko-KR" altLang="en-US" sz="2400"/>
              <a:t>범용 뷰어가 연결된 생태계로 동작한다</a:t>
            </a:r>
          </a:p>
          <a:p>
            <a:r>
              <a:rPr lang="ko-KR" altLang="en-US" sz="2400"/>
              <a:t>완전 독자 포맷만 쓰면 저장</a:t>
            </a:r>
            <a:r>
              <a:rPr lang="en-US" altLang="ko-KR" sz="2400"/>
              <a:t>, </a:t>
            </a:r>
            <a:r>
              <a:rPr lang="ko-KR" altLang="en-US" sz="2400"/>
              <a:t>전송</a:t>
            </a:r>
            <a:r>
              <a:rPr lang="en-US" altLang="ko-KR" sz="2400"/>
              <a:t>, </a:t>
            </a:r>
            <a:r>
              <a:rPr lang="ko-KR" altLang="en-US" sz="2400"/>
              <a:t>조회</a:t>
            </a:r>
            <a:r>
              <a:rPr lang="en-US" altLang="ko-KR" sz="2400"/>
              <a:t>, </a:t>
            </a:r>
            <a:r>
              <a:rPr lang="ko-KR" altLang="en-US" sz="2400"/>
              <a:t>기본 열람에서 큰 마찰이 생긴다</a:t>
            </a:r>
          </a:p>
          <a:p>
            <a:r>
              <a:rPr lang="ko-KR" altLang="en-US" sz="2400"/>
              <a:t>따라서 외부 인터페이스는 </a:t>
            </a:r>
            <a:r>
              <a:rPr lang="en-US" altLang="ko-KR" sz="2400"/>
              <a:t>DICOM</a:t>
            </a:r>
            <a:r>
              <a:rPr lang="ko-KR" altLang="en-US" sz="2400"/>
              <a:t>으로 맞추는 것이 병원 도입과 운영에 유리하다</a:t>
            </a:r>
          </a:p>
          <a:p>
            <a:r>
              <a:rPr lang="ko-KR" altLang="en-US" sz="2400"/>
              <a:t>대신 핵심 </a:t>
            </a:r>
            <a:r>
              <a:rPr lang="en-US" altLang="ko-KR" sz="2400"/>
              <a:t>3D RAW</a:t>
            </a:r>
            <a:r>
              <a:rPr lang="ko-KR" altLang="en-US" sz="2400"/>
              <a:t>와 </a:t>
            </a:r>
            <a:r>
              <a:rPr lang="en-US" altLang="ko-KR" sz="2400"/>
              <a:t>geometry</a:t>
            </a:r>
            <a:r>
              <a:rPr lang="ko-KR" altLang="en-US" sz="2400"/>
              <a:t>는 </a:t>
            </a:r>
            <a:r>
              <a:rPr lang="en-US" altLang="ko-KR" sz="2400"/>
              <a:t>private </a:t>
            </a:r>
            <a:r>
              <a:rPr lang="ko-KR" altLang="en-US" sz="2400"/>
              <a:t>구조로 숨겨 차별화와 통제력을 유지한다</a:t>
            </a:r>
          </a:p>
        </p:txBody>
      </p:sp>
    </p:spTree>
    <p:extLst>
      <p:ext uri="{BB962C8B-B14F-4D97-AF65-F5344CB8AC3E}">
        <p14:creationId xmlns:p14="http://schemas.microsoft.com/office/powerpoint/2010/main" val="105127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E911F0-262D-1205-2A97-1FE500A72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DICOM</a:t>
            </a:r>
            <a:r>
              <a:rPr lang="ko-KR" altLang="en-US"/>
              <a:t>의 기본 구조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ECFDC4-92BE-8681-9EE4-8BEB751BE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400"/>
              <a:t>파일 시작부는 보통 </a:t>
            </a:r>
            <a:r>
              <a:rPr lang="en-US" altLang="ko-KR" sz="2400"/>
              <a:t>128-byte preamble</a:t>
            </a:r>
            <a:r>
              <a:rPr lang="ko-KR" altLang="en-US" sz="2400"/>
              <a:t>과 </a:t>
            </a:r>
            <a:r>
              <a:rPr lang="en-US" altLang="ko-KR" sz="2400"/>
              <a:t>DICM prefix</a:t>
            </a:r>
            <a:r>
              <a:rPr lang="ko-KR" altLang="en-US" sz="2400"/>
              <a:t>를 가진다</a:t>
            </a:r>
          </a:p>
          <a:p>
            <a:r>
              <a:rPr lang="ko-KR" altLang="en-US" sz="2400"/>
              <a:t>이후 </a:t>
            </a:r>
            <a:r>
              <a:rPr lang="en-US" altLang="ko-KR" sz="2400"/>
              <a:t>Data Element</a:t>
            </a:r>
            <a:r>
              <a:rPr lang="ko-KR" altLang="en-US" sz="2400"/>
              <a:t>가 순차적으로 이어진다</a:t>
            </a:r>
          </a:p>
          <a:p>
            <a:r>
              <a:rPr lang="ko-KR" altLang="en-US" sz="2400"/>
              <a:t>각 요소는 </a:t>
            </a:r>
            <a:r>
              <a:rPr lang="en-US" altLang="ko-KR" sz="2400"/>
              <a:t>Tag, VR, Length, Value</a:t>
            </a:r>
            <a:r>
              <a:rPr lang="ko-KR" altLang="en-US" sz="2400"/>
              <a:t>로 구성된다</a:t>
            </a:r>
          </a:p>
          <a:p>
            <a:r>
              <a:rPr lang="ko-KR" altLang="en-US" sz="2400"/>
              <a:t>파서는 모르는 태그를 만나도 </a:t>
            </a:r>
            <a:r>
              <a:rPr lang="en-US" altLang="ko-KR" sz="2400"/>
              <a:t>Length</a:t>
            </a:r>
            <a:r>
              <a:rPr lang="ko-KR" altLang="en-US" sz="2400"/>
              <a:t>를 보고 건너뛸 수 있다</a:t>
            </a:r>
          </a:p>
        </p:txBody>
      </p:sp>
    </p:spTree>
    <p:extLst>
      <p:ext uri="{BB962C8B-B14F-4D97-AF65-F5344CB8AC3E}">
        <p14:creationId xmlns:p14="http://schemas.microsoft.com/office/powerpoint/2010/main" val="503968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5FD4FC-21F5-CD9D-46DF-359B8095D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Public Tag</a:t>
            </a:r>
            <a:r>
              <a:rPr lang="ko-KR" altLang="en-US"/>
              <a:t>와 </a:t>
            </a:r>
            <a:r>
              <a:rPr lang="en-US" altLang="ko-KR"/>
              <a:t>Private Tag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0060AE-9521-3D5C-44F0-B2CF0B3BD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400"/>
              <a:t>Public Tag</a:t>
            </a:r>
            <a:r>
              <a:rPr lang="ko-KR" altLang="en-US" sz="2400"/>
              <a:t>는 표준 의미가 고정되어 있어 모든 파서가 비슷하게 해석한다</a:t>
            </a:r>
          </a:p>
          <a:p>
            <a:r>
              <a:rPr lang="en-US" altLang="ko-KR" sz="2400"/>
              <a:t>Private Tag</a:t>
            </a:r>
            <a:r>
              <a:rPr lang="ko-KR" altLang="en-US" sz="2400"/>
              <a:t>는 제조사만 아는 정보를 저장하는 사설 영역이다</a:t>
            </a:r>
          </a:p>
          <a:p>
            <a:r>
              <a:rPr lang="ko-KR" altLang="en-US" sz="2400"/>
              <a:t>최신 기능</a:t>
            </a:r>
            <a:r>
              <a:rPr lang="en-US" altLang="ko-KR" sz="2400"/>
              <a:t>, RAW </a:t>
            </a:r>
            <a:r>
              <a:rPr lang="ko-KR" altLang="en-US" sz="2400"/>
              <a:t>데이터</a:t>
            </a:r>
            <a:r>
              <a:rPr lang="en-US" altLang="ko-KR" sz="2400"/>
              <a:t>, </a:t>
            </a:r>
            <a:r>
              <a:rPr lang="ko-KR" altLang="en-US" sz="2400"/>
              <a:t>독자 알고리즘 결과는 보통 </a:t>
            </a:r>
            <a:r>
              <a:rPr lang="en-US" altLang="ko-KR" sz="2400"/>
              <a:t>private tag</a:t>
            </a:r>
            <a:r>
              <a:rPr lang="ko-KR" altLang="en-US" sz="2400"/>
              <a:t>에 저장된다</a:t>
            </a:r>
          </a:p>
          <a:p>
            <a:r>
              <a:rPr lang="ko-KR" altLang="en-US" sz="2400"/>
              <a:t>따라서 </a:t>
            </a:r>
            <a:r>
              <a:rPr lang="en-US" altLang="ko-KR" sz="2400"/>
              <a:t>DICOM</a:t>
            </a:r>
            <a:r>
              <a:rPr lang="ko-KR" altLang="en-US" sz="2400"/>
              <a:t>은 표준 컨테이너이면서 동시에 벤더 확장 포맷이 되기도 한다</a:t>
            </a:r>
          </a:p>
        </p:txBody>
      </p:sp>
    </p:spTree>
    <p:extLst>
      <p:ext uri="{BB962C8B-B14F-4D97-AF65-F5344CB8AC3E}">
        <p14:creationId xmlns:p14="http://schemas.microsoft.com/office/powerpoint/2010/main" val="852962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E71D2-A3E5-093D-DCFC-06BDF7AB9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GE DICOM</a:t>
            </a:r>
            <a:r>
              <a:rPr lang="ko-KR" altLang="en-US"/>
              <a:t>이 트로이 목마 구조를 띠는 이유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CE6A3E-BC60-25E9-3F43-E23B017AA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400"/>
              <a:t>완전 독자 포맷만으로는 병원 표준 워크플로에 자연스럽게 들어가기 어렵다</a:t>
            </a:r>
          </a:p>
          <a:p>
            <a:r>
              <a:rPr lang="ko-KR" altLang="en-US" sz="2400"/>
              <a:t>병원 </a:t>
            </a:r>
            <a:r>
              <a:rPr lang="en-US" altLang="ko-KR" sz="2400"/>
              <a:t>PACS</a:t>
            </a:r>
            <a:r>
              <a:rPr lang="ko-KR" altLang="en-US" sz="2400"/>
              <a:t>와 </a:t>
            </a:r>
            <a:r>
              <a:rPr lang="en-US" altLang="ko-KR" sz="2400"/>
              <a:t>DICOM </a:t>
            </a:r>
            <a:r>
              <a:rPr lang="ko-KR" altLang="en-US" sz="2400"/>
              <a:t>라우터를 통과하려면 표준 </a:t>
            </a:r>
            <a:r>
              <a:rPr lang="en-US" altLang="ko-KR" sz="2400"/>
              <a:t>DICOM </a:t>
            </a:r>
            <a:r>
              <a:rPr lang="ko-KR" altLang="en-US" sz="2400"/>
              <a:t>외형이 필요하다</a:t>
            </a:r>
          </a:p>
          <a:p>
            <a:r>
              <a:rPr lang="ko-KR" altLang="en-US" sz="2400"/>
              <a:t>범용 뷰어에서도 최소한 환자 정보와 대표 </a:t>
            </a:r>
            <a:r>
              <a:rPr lang="en-US" altLang="ko-KR" sz="2400"/>
              <a:t>2D </a:t>
            </a:r>
            <a:r>
              <a:rPr lang="ko-KR" altLang="en-US" sz="2400"/>
              <a:t>이미지는 보여야 한다</a:t>
            </a:r>
          </a:p>
          <a:p>
            <a:r>
              <a:rPr lang="ko-KR" altLang="en-US" sz="2400"/>
              <a:t>핵심 </a:t>
            </a:r>
            <a:r>
              <a:rPr lang="en-US" altLang="ko-KR" sz="2400"/>
              <a:t>3D RAW </a:t>
            </a:r>
            <a:r>
              <a:rPr lang="ko-KR" altLang="en-US" sz="2400"/>
              <a:t>데이터와 </a:t>
            </a:r>
            <a:r>
              <a:rPr lang="en-US" altLang="ko-KR" sz="2400"/>
              <a:t>geometry</a:t>
            </a:r>
            <a:r>
              <a:rPr lang="ko-KR" altLang="en-US" sz="2400"/>
              <a:t>는 </a:t>
            </a:r>
            <a:r>
              <a:rPr lang="en-US" altLang="ko-KR" sz="2400"/>
              <a:t>GE </a:t>
            </a:r>
            <a:r>
              <a:rPr lang="ko-KR" altLang="en-US" sz="2400"/>
              <a:t>전용 소프트웨어에서만 완전하게 쓰이게 하고 싶다</a:t>
            </a:r>
          </a:p>
          <a:p>
            <a:r>
              <a:rPr lang="ko-KR" altLang="en-US" sz="2400"/>
              <a:t>즉 호환성과 벤더 통제를 동시에 만족시키는 절충 구조다</a:t>
            </a:r>
          </a:p>
        </p:txBody>
      </p:sp>
    </p:spTree>
    <p:extLst>
      <p:ext uri="{BB962C8B-B14F-4D97-AF65-F5344CB8AC3E}">
        <p14:creationId xmlns:p14="http://schemas.microsoft.com/office/powerpoint/2010/main" val="2324035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81FF02-E69A-C6DC-197D-FDF04AB7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트로이 목마 구조의 실제 모습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35BBB1-F247-0F4A-26FC-3D545F0F3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400"/>
              <a:t>겉부분에는 표준 </a:t>
            </a:r>
            <a:r>
              <a:rPr lang="en-US" altLang="ko-KR" sz="2400"/>
              <a:t>DICOM </a:t>
            </a:r>
            <a:r>
              <a:rPr lang="ko-KR" altLang="en-US" sz="2400"/>
              <a:t>헤더</a:t>
            </a:r>
            <a:r>
              <a:rPr lang="en-US" altLang="ko-KR" sz="2400"/>
              <a:t>, </a:t>
            </a:r>
            <a:r>
              <a:rPr lang="ko-KR" altLang="en-US" sz="2400"/>
              <a:t>환자 정보</a:t>
            </a:r>
            <a:r>
              <a:rPr lang="en-US" altLang="ko-KR" sz="2400"/>
              <a:t>, </a:t>
            </a:r>
            <a:r>
              <a:rPr lang="ko-KR" altLang="en-US" sz="2400"/>
              <a:t>검사 정보</a:t>
            </a:r>
            <a:r>
              <a:rPr lang="en-US" altLang="ko-KR" sz="2400"/>
              <a:t>, 2D </a:t>
            </a:r>
            <a:r>
              <a:rPr lang="ko-KR" altLang="en-US" sz="2400"/>
              <a:t>이미지가 들어간다</a:t>
            </a:r>
          </a:p>
          <a:p>
            <a:r>
              <a:rPr lang="ko-KR" altLang="en-US" sz="2400"/>
              <a:t>속부분에는 </a:t>
            </a:r>
            <a:r>
              <a:rPr lang="en-US" altLang="ko-KR" sz="2400"/>
              <a:t>private creator</a:t>
            </a:r>
            <a:r>
              <a:rPr lang="ko-KR" altLang="en-US" sz="2400"/>
              <a:t>와 </a:t>
            </a:r>
            <a:r>
              <a:rPr lang="en-US" altLang="ko-KR" sz="2400"/>
              <a:t>private payload</a:t>
            </a:r>
            <a:r>
              <a:rPr lang="ko-KR" altLang="en-US" sz="2400"/>
              <a:t>가 들어간다</a:t>
            </a:r>
          </a:p>
          <a:p>
            <a:r>
              <a:rPr lang="ko-KR" altLang="en-US" sz="2400"/>
              <a:t>대표적으로 </a:t>
            </a:r>
            <a:r>
              <a:rPr lang="en-US" altLang="ko-KR" sz="2400"/>
              <a:t>7FE1 </a:t>
            </a:r>
            <a:r>
              <a:rPr lang="ko-KR" altLang="en-US" sz="2400"/>
              <a:t>그룹의 </a:t>
            </a:r>
            <a:r>
              <a:rPr lang="en-US" altLang="ko-KR" sz="2400"/>
              <a:t>private tag</a:t>
            </a:r>
            <a:r>
              <a:rPr lang="ko-KR" altLang="en-US" sz="2400"/>
              <a:t>에 </a:t>
            </a:r>
            <a:r>
              <a:rPr lang="en-US" altLang="ko-KR" sz="2400"/>
              <a:t>GE 3D </a:t>
            </a:r>
            <a:r>
              <a:rPr lang="ko-KR" altLang="en-US" sz="2400"/>
              <a:t>데이터가 저장될 수 있다</a:t>
            </a:r>
          </a:p>
          <a:p>
            <a:r>
              <a:rPr lang="ko-KR" altLang="en-US" sz="2400"/>
              <a:t>범용 뷰어는 표준 부분만 읽고 </a:t>
            </a:r>
            <a:r>
              <a:rPr lang="en-US" altLang="ko-KR" sz="2400"/>
              <a:t>private 3D</a:t>
            </a:r>
            <a:r>
              <a:rPr lang="ko-KR" altLang="en-US" sz="2400"/>
              <a:t>는 건너뛴다</a:t>
            </a:r>
          </a:p>
        </p:txBody>
      </p:sp>
    </p:spTree>
    <p:extLst>
      <p:ext uri="{BB962C8B-B14F-4D97-AF65-F5344CB8AC3E}">
        <p14:creationId xmlns:p14="http://schemas.microsoft.com/office/powerpoint/2010/main" val="1955492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28001-1271-2B7E-649A-5C33F1DCB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왜 </a:t>
            </a:r>
            <a:r>
              <a:rPr lang="en-US" altLang="ko-KR"/>
              <a:t>RadiAnt</a:t>
            </a:r>
            <a:r>
              <a:rPr lang="ko-KR" altLang="en-US"/>
              <a:t>에서는 열리나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40F75F-FF51-7504-0671-367497166D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400"/>
              <a:t>RadiAnt</a:t>
            </a:r>
            <a:r>
              <a:rPr lang="ko-KR" altLang="en-US" sz="2400"/>
              <a:t>는 표준 </a:t>
            </a:r>
            <a:r>
              <a:rPr lang="en-US" altLang="ko-KR" sz="2400"/>
              <a:t>DICOM </a:t>
            </a:r>
            <a:r>
              <a:rPr lang="ko-KR" altLang="en-US" sz="2400"/>
              <a:t>파서를 사용해 아는 태그는 읽고 모르는 태그는 건너뛴다</a:t>
            </a:r>
          </a:p>
          <a:p>
            <a:r>
              <a:rPr lang="ko-KR" altLang="en-US" sz="2400"/>
              <a:t>따라서 표준 </a:t>
            </a:r>
            <a:r>
              <a:rPr lang="en-US" altLang="ko-KR" sz="2400"/>
              <a:t>2D </a:t>
            </a:r>
            <a:r>
              <a:rPr lang="ko-KR" altLang="en-US" sz="2400"/>
              <a:t>이미지와 일반 메타데이터는 정상 표시할 수 있다</a:t>
            </a:r>
          </a:p>
          <a:p>
            <a:r>
              <a:rPr lang="ko-KR" altLang="en-US" sz="2400"/>
              <a:t>하지만 </a:t>
            </a:r>
            <a:r>
              <a:rPr lang="en-US" altLang="ko-KR" sz="2400"/>
              <a:t>GE private payload </a:t>
            </a:r>
            <a:r>
              <a:rPr lang="ko-KR" altLang="en-US" sz="2400"/>
              <a:t>내부의 </a:t>
            </a:r>
            <a:r>
              <a:rPr lang="en-US" altLang="ko-KR" sz="2400"/>
              <a:t>3D RAW </a:t>
            </a:r>
            <a:r>
              <a:rPr lang="ko-KR" altLang="en-US" sz="2400"/>
              <a:t>구조는 해석하지 못할 수 있다</a:t>
            </a:r>
          </a:p>
          <a:p>
            <a:r>
              <a:rPr lang="ko-KR" altLang="en-US" sz="2400"/>
              <a:t>즉 일부는 보이지만 완전한 </a:t>
            </a:r>
            <a:r>
              <a:rPr lang="en-US" altLang="ko-KR" sz="2400"/>
              <a:t>3D </a:t>
            </a:r>
            <a:r>
              <a:rPr lang="ko-KR" altLang="en-US" sz="2400"/>
              <a:t>재구성은 어려운 경우가 많다</a:t>
            </a:r>
          </a:p>
        </p:txBody>
      </p:sp>
    </p:spTree>
    <p:extLst>
      <p:ext uri="{BB962C8B-B14F-4D97-AF65-F5344CB8AC3E}">
        <p14:creationId xmlns:p14="http://schemas.microsoft.com/office/powerpoint/2010/main" val="1857021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DCEF3F-315A-2556-6C4A-1D1175ECD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GE 3D TEE </a:t>
            </a:r>
            <a:r>
              <a:rPr lang="ko-KR" altLang="en-US"/>
              <a:t>데이터의 실제 위치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128CBE-CA1F-85EA-9CD9-76AEEEB49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400"/>
              <a:t>GE </a:t>
            </a:r>
            <a:r>
              <a:rPr lang="ko-KR" altLang="en-US" sz="2400"/>
              <a:t>계열 파일에서는 </a:t>
            </a:r>
            <a:r>
              <a:rPr lang="en-US" altLang="ko-KR" sz="2400"/>
              <a:t>GEMS_Ultrasound_MovieGroup_001 </a:t>
            </a:r>
            <a:r>
              <a:rPr lang="ko-KR" altLang="en-US" sz="2400"/>
              <a:t>또는 </a:t>
            </a:r>
            <a:r>
              <a:rPr lang="en-US" altLang="ko-KR" sz="2400"/>
              <a:t>KRETZ_US</a:t>
            </a:r>
            <a:r>
              <a:rPr lang="ko-KR" altLang="en-US" sz="2400"/>
              <a:t>가 단서가 된다</a:t>
            </a:r>
          </a:p>
          <a:p>
            <a:r>
              <a:rPr lang="en-US" altLang="ko-KR" sz="2400"/>
              <a:t>7FE1,0010 </a:t>
            </a:r>
            <a:r>
              <a:rPr lang="ko-KR" altLang="en-US" sz="2400"/>
              <a:t>또는 </a:t>
            </a:r>
            <a:r>
              <a:rPr lang="en-US" altLang="ko-KR" sz="2400"/>
              <a:t>7FE1,0011</a:t>
            </a:r>
            <a:r>
              <a:rPr lang="ko-KR" altLang="en-US" sz="2400"/>
              <a:t>은 </a:t>
            </a:r>
            <a:r>
              <a:rPr lang="en-US" altLang="ko-KR" sz="2400"/>
              <a:t>private creator </a:t>
            </a:r>
            <a:r>
              <a:rPr lang="ko-KR" altLang="en-US" sz="2400"/>
              <a:t>역할을 할 수 있다</a:t>
            </a:r>
          </a:p>
          <a:p>
            <a:r>
              <a:rPr lang="en-US" altLang="ko-KR" sz="2400"/>
              <a:t>7FE1,1001 </a:t>
            </a:r>
            <a:r>
              <a:rPr lang="ko-KR" altLang="en-US" sz="2400"/>
              <a:t>또는 </a:t>
            </a:r>
            <a:r>
              <a:rPr lang="en-US" altLang="ko-KR" sz="2400"/>
              <a:t>7FE1,1101</a:t>
            </a:r>
            <a:r>
              <a:rPr lang="ko-KR" altLang="en-US" sz="2400"/>
              <a:t>은 대용량 </a:t>
            </a:r>
            <a:r>
              <a:rPr lang="en-US" altLang="ko-KR" sz="2400"/>
              <a:t>3D payload</a:t>
            </a:r>
            <a:r>
              <a:rPr lang="ko-KR" altLang="en-US" sz="2400"/>
              <a:t>일 가능성이 높다</a:t>
            </a:r>
          </a:p>
          <a:p>
            <a:r>
              <a:rPr lang="ko-KR" altLang="en-US" sz="2400"/>
              <a:t>이 </a:t>
            </a:r>
            <a:r>
              <a:rPr lang="en-US" altLang="ko-KR" sz="2400"/>
              <a:t>payload </a:t>
            </a:r>
            <a:r>
              <a:rPr lang="ko-KR" altLang="en-US" sz="2400"/>
              <a:t>내부에는 다시 </a:t>
            </a:r>
            <a:r>
              <a:rPr lang="en-US" altLang="ko-KR" sz="2400"/>
              <a:t>GE </a:t>
            </a:r>
            <a:r>
              <a:rPr lang="ko-KR" altLang="en-US" sz="2400"/>
              <a:t>또는 </a:t>
            </a:r>
            <a:r>
              <a:rPr lang="en-US" altLang="ko-KR" sz="2400"/>
              <a:t>Kretz </a:t>
            </a:r>
            <a:r>
              <a:rPr lang="ko-KR" altLang="en-US" sz="2400"/>
              <a:t>고유 바이너리 포맷이 들어갈 수 있다</a:t>
            </a:r>
          </a:p>
        </p:txBody>
      </p:sp>
    </p:spTree>
    <p:extLst>
      <p:ext uri="{BB962C8B-B14F-4D97-AF65-F5344CB8AC3E}">
        <p14:creationId xmlns:p14="http://schemas.microsoft.com/office/powerpoint/2010/main" val="2091544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3185D9-45F3-3FE5-EDA6-F94758B86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Spacing</a:t>
            </a:r>
            <a:r>
              <a:rPr lang="ko-KR" altLang="en-US"/>
              <a:t>이란 무엇인가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E4CC5F-2DCB-AA87-8FB4-8C1A96B7F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400"/>
              <a:t>spacing</a:t>
            </a:r>
            <a:r>
              <a:rPr lang="ko-KR" altLang="en-US" sz="2400"/>
              <a:t>은 인덱스 한 칸이 현실에서 얼마인지 나타내는 값이다</a:t>
            </a:r>
          </a:p>
          <a:p>
            <a:r>
              <a:rPr lang="en-US" altLang="ko-KR" sz="2400"/>
              <a:t>Cartesian volume</a:t>
            </a:r>
            <a:r>
              <a:rPr lang="ko-KR" altLang="en-US" sz="2400"/>
              <a:t>에서는 보통 </a:t>
            </a:r>
            <a:r>
              <a:rPr lang="en-US" altLang="ko-KR" sz="2400"/>
              <a:t>x, y, z </a:t>
            </a:r>
            <a:r>
              <a:rPr lang="ko-KR" altLang="en-US" sz="2400"/>
              <a:t>각 축의 </a:t>
            </a:r>
            <a:r>
              <a:rPr lang="en-US" altLang="ko-KR" sz="2400"/>
              <a:t>voxel </a:t>
            </a:r>
            <a:r>
              <a:rPr lang="ko-KR" altLang="en-US" sz="2400"/>
              <a:t>간 거리</a:t>
            </a:r>
            <a:r>
              <a:rPr lang="en-US" altLang="ko-KR" sz="2400"/>
              <a:t>(mm)</a:t>
            </a:r>
            <a:r>
              <a:rPr lang="ko-KR" altLang="en-US" sz="2400"/>
              <a:t>를 뜻한다</a:t>
            </a:r>
          </a:p>
          <a:p>
            <a:r>
              <a:rPr lang="ko-KR" altLang="en-US" sz="2400"/>
              <a:t>이 값이 있어야 길이</a:t>
            </a:r>
            <a:r>
              <a:rPr lang="en-US" altLang="ko-KR" sz="2400"/>
              <a:t>, </a:t>
            </a:r>
            <a:r>
              <a:rPr lang="ko-KR" altLang="en-US" sz="2400"/>
              <a:t>면적</a:t>
            </a:r>
            <a:r>
              <a:rPr lang="en-US" altLang="ko-KR" sz="2400"/>
              <a:t>, </a:t>
            </a:r>
            <a:r>
              <a:rPr lang="ko-KR" altLang="en-US" sz="2400"/>
              <a:t>부피를 실제 물리 단위로 계산할 수 있다</a:t>
            </a:r>
          </a:p>
          <a:p>
            <a:r>
              <a:rPr lang="en-US" altLang="ko-KR" sz="2400"/>
              <a:t>spacing</a:t>
            </a:r>
            <a:r>
              <a:rPr lang="ko-KR" altLang="en-US" sz="2400"/>
              <a:t>이 없으면 렌더링은 가능해도 정량 측정은 신뢰하기 어렵다</a:t>
            </a:r>
          </a:p>
        </p:txBody>
      </p:sp>
    </p:spTree>
    <p:extLst>
      <p:ext uri="{BB962C8B-B14F-4D97-AF65-F5344CB8AC3E}">
        <p14:creationId xmlns:p14="http://schemas.microsoft.com/office/powerpoint/2010/main" val="2650578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9B0A5D-67E8-487B-27FE-D6D345F70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초음파 </a:t>
            </a:r>
            <a:r>
              <a:rPr lang="en-US" altLang="ko-KR"/>
              <a:t>RAW</a:t>
            </a:r>
            <a:r>
              <a:rPr lang="ko-KR" altLang="en-US"/>
              <a:t>에서 </a:t>
            </a:r>
            <a:r>
              <a:rPr lang="en-US" altLang="ko-KR"/>
              <a:t>spacing</a:t>
            </a:r>
            <a:r>
              <a:rPr lang="ko-KR" altLang="en-US"/>
              <a:t>이 더 어려운 이유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F3B5DD-1C5F-530F-BFA3-96216C453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400"/>
              <a:t>원본 </a:t>
            </a:r>
            <a:r>
              <a:rPr lang="en-US" altLang="ko-KR" sz="2400"/>
              <a:t>3D </a:t>
            </a:r>
            <a:r>
              <a:rPr lang="ko-KR" altLang="en-US" sz="2400"/>
              <a:t>초음파는 바로 </a:t>
            </a:r>
            <a:r>
              <a:rPr lang="en-US" altLang="ko-KR" sz="2400"/>
              <a:t>x, y, z voxel </a:t>
            </a:r>
            <a:r>
              <a:rPr lang="ko-KR" altLang="en-US" sz="2400"/>
              <a:t>격자가 아니다</a:t>
            </a:r>
          </a:p>
          <a:p>
            <a:r>
              <a:rPr lang="ko-KR" altLang="en-US" sz="2400"/>
              <a:t>보통 </a:t>
            </a:r>
            <a:r>
              <a:rPr lang="en-US" altLang="ko-KR" sz="2400"/>
              <a:t>depth r, azimuth theta, elevation phi </a:t>
            </a:r>
            <a:r>
              <a:rPr lang="ko-KR" altLang="en-US" sz="2400"/>
              <a:t>축으로 저장된다</a:t>
            </a:r>
          </a:p>
          <a:p>
            <a:r>
              <a:rPr lang="ko-KR" altLang="en-US" sz="2400"/>
              <a:t>따라서 원본 </a:t>
            </a:r>
            <a:r>
              <a:rPr lang="en-US" altLang="ko-KR" sz="2400"/>
              <a:t>spacing</a:t>
            </a:r>
            <a:r>
              <a:rPr lang="ko-KR" altLang="en-US" sz="2400"/>
              <a:t>은 </a:t>
            </a:r>
            <a:r>
              <a:rPr lang="en-US" altLang="ko-KR" sz="2400"/>
              <a:t>delta r(mm), delta theta(degree), delta phi(degree) </a:t>
            </a:r>
            <a:r>
              <a:rPr lang="ko-KR" altLang="en-US" sz="2400"/>
              <a:t>조합일 수 있다</a:t>
            </a:r>
          </a:p>
          <a:p>
            <a:r>
              <a:rPr lang="ko-KR" altLang="en-US" sz="2400"/>
              <a:t>이 </a:t>
            </a:r>
            <a:r>
              <a:rPr lang="en-US" altLang="ko-KR" sz="2400"/>
              <a:t>geometry</a:t>
            </a:r>
            <a:r>
              <a:rPr lang="ko-KR" altLang="en-US" sz="2400"/>
              <a:t>를 </a:t>
            </a:r>
            <a:r>
              <a:rPr lang="en-US" altLang="ko-KR" sz="2400"/>
              <a:t>scan conversion</a:t>
            </a:r>
            <a:r>
              <a:rPr lang="ko-KR" altLang="en-US" sz="2400"/>
              <a:t>을 통해 </a:t>
            </a:r>
            <a:r>
              <a:rPr lang="en-US" altLang="ko-KR" sz="2400"/>
              <a:t>Cartesian volume</a:t>
            </a:r>
            <a:r>
              <a:rPr lang="ko-KR" altLang="en-US" sz="2400"/>
              <a:t>으로 바꿔야 한다</a:t>
            </a:r>
          </a:p>
        </p:txBody>
      </p:sp>
    </p:spTree>
    <p:extLst>
      <p:ext uri="{BB962C8B-B14F-4D97-AF65-F5344CB8AC3E}">
        <p14:creationId xmlns:p14="http://schemas.microsoft.com/office/powerpoint/2010/main" val="3299976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2C27A-47CE-4AC8-EA3D-65F72537F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Spacing</a:t>
            </a:r>
            <a:r>
              <a:rPr lang="ko-KR" altLang="en-US"/>
              <a:t>을 얻는 현실적인 방법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98FFE8-8B78-F27A-FBFC-331F06DFD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400"/>
              <a:t>첫째</a:t>
            </a:r>
            <a:r>
              <a:rPr lang="en-US" altLang="ko-KR" sz="2400"/>
              <a:t>, </a:t>
            </a:r>
            <a:r>
              <a:rPr lang="ko-KR" altLang="en-US" sz="2400"/>
              <a:t>표준 태그에서 </a:t>
            </a:r>
            <a:r>
              <a:rPr lang="en-US" altLang="ko-KR" sz="2400"/>
              <a:t>Ultrasound Region</a:t>
            </a:r>
            <a:r>
              <a:rPr lang="ko-KR" altLang="en-US" sz="2400"/>
              <a:t>과 </a:t>
            </a:r>
            <a:r>
              <a:rPr lang="en-US" altLang="ko-KR" sz="2400"/>
              <a:t>Physical Delta</a:t>
            </a:r>
            <a:r>
              <a:rPr lang="ko-KR" altLang="en-US" sz="2400"/>
              <a:t>를 확인한다</a:t>
            </a:r>
          </a:p>
          <a:p>
            <a:r>
              <a:rPr lang="ko-KR" altLang="en-US" sz="2400"/>
              <a:t>둘째</a:t>
            </a:r>
            <a:r>
              <a:rPr lang="en-US" altLang="ko-KR" sz="2400"/>
              <a:t>, 3D Slicer</a:t>
            </a:r>
            <a:r>
              <a:rPr lang="ko-KR" altLang="en-US" sz="2400"/>
              <a:t>와 </a:t>
            </a:r>
            <a:r>
              <a:rPr lang="en-US" altLang="ko-KR" sz="2400"/>
              <a:t>SlicerHeart</a:t>
            </a:r>
            <a:r>
              <a:rPr lang="ko-KR" altLang="en-US" sz="2400"/>
              <a:t>로 파일을 로드해 </a:t>
            </a:r>
            <a:r>
              <a:rPr lang="en-US" altLang="ko-KR" sz="2400"/>
              <a:t>spacing</a:t>
            </a:r>
            <a:r>
              <a:rPr lang="ko-KR" altLang="en-US" sz="2400"/>
              <a:t>을 읽는다</a:t>
            </a:r>
          </a:p>
          <a:p>
            <a:r>
              <a:rPr lang="ko-KR" altLang="en-US" sz="2400"/>
              <a:t>셋째</a:t>
            </a:r>
            <a:r>
              <a:rPr lang="en-US" altLang="ko-KR" sz="2400"/>
              <a:t>, </a:t>
            </a:r>
            <a:r>
              <a:rPr lang="ko-KR" altLang="en-US" sz="2400"/>
              <a:t>필요하면 </a:t>
            </a:r>
            <a:r>
              <a:rPr lang="en-US" altLang="ko-KR" sz="2400"/>
              <a:t>private payload</a:t>
            </a:r>
            <a:r>
              <a:rPr lang="ko-KR" altLang="en-US" sz="2400"/>
              <a:t>를 직접 추출해 </a:t>
            </a:r>
            <a:r>
              <a:rPr lang="en-US" altLang="ko-KR" sz="2400"/>
              <a:t>GE/Kretz </a:t>
            </a:r>
            <a:r>
              <a:rPr lang="ko-KR" altLang="en-US" sz="2400"/>
              <a:t>내부 포맷을 파싱한다</a:t>
            </a:r>
          </a:p>
          <a:p>
            <a:r>
              <a:rPr lang="ko-KR" altLang="en-US" sz="2400"/>
              <a:t>실무에서는 </a:t>
            </a:r>
            <a:r>
              <a:rPr lang="en-US" altLang="ko-KR" sz="2400"/>
              <a:t>Slicer </a:t>
            </a:r>
            <a:r>
              <a:rPr lang="ko-KR" altLang="en-US" sz="2400"/>
              <a:t>기반 확인이 가장 빠르고 재현성도 높다</a:t>
            </a:r>
          </a:p>
        </p:txBody>
      </p:sp>
    </p:spTree>
    <p:extLst>
      <p:ext uri="{BB962C8B-B14F-4D97-AF65-F5344CB8AC3E}">
        <p14:creationId xmlns:p14="http://schemas.microsoft.com/office/powerpoint/2010/main" val="286525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86D228-E1D0-06F4-36AF-12BA91EA1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SlicerHeart </a:t>
            </a:r>
            <a:r>
              <a:rPr lang="ko-KR" altLang="en-US"/>
              <a:t>관점의 핵심 원리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A86E24-1909-BE30-721A-0578B6D4D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400"/>
              <a:t>Python plugin</a:t>
            </a:r>
            <a:r>
              <a:rPr lang="ko-KR" altLang="en-US" sz="2400"/>
              <a:t>은 </a:t>
            </a:r>
            <a:r>
              <a:rPr lang="en-US" altLang="ko-KR" sz="2400"/>
              <a:t>GE/Kretz </a:t>
            </a:r>
            <a:r>
              <a:rPr lang="ko-KR" altLang="en-US" sz="2400"/>
              <a:t>파일인지 식별하고 </a:t>
            </a:r>
            <a:r>
              <a:rPr lang="en-US" altLang="ko-KR" sz="2400"/>
              <a:t>private payload </a:t>
            </a:r>
            <a:r>
              <a:rPr lang="ko-KR" altLang="en-US" sz="2400"/>
              <a:t>위치를 찾는다</a:t>
            </a:r>
          </a:p>
          <a:p>
            <a:r>
              <a:rPr lang="en-US" altLang="ko-KR" sz="2400"/>
              <a:t>loadKretzUS</a:t>
            </a:r>
            <a:r>
              <a:rPr lang="ko-KR" altLang="en-US" sz="2400"/>
              <a:t>는 </a:t>
            </a:r>
            <a:r>
              <a:rPr lang="en-US" altLang="ko-KR" sz="2400"/>
              <a:t>payload </a:t>
            </a:r>
            <a:r>
              <a:rPr lang="ko-KR" altLang="en-US" sz="2400"/>
              <a:t>시작 </a:t>
            </a:r>
            <a:r>
              <a:rPr lang="en-US" altLang="ko-KR" sz="2400"/>
              <a:t>offset</a:t>
            </a:r>
            <a:r>
              <a:rPr lang="ko-KR" altLang="en-US" sz="2400"/>
              <a:t>을 </a:t>
            </a:r>
            <a:r>
              <a:rPr lang="en-US" altLang="ko-KR" sz="2400"/>
              <a:t>C++ reader</a:t>
            </a:r>
            <a:r>
              <a:rPr lang="ko-KR" altLang="en-US" sz="2400"/>
              <a:t>에 넘긴다</a:t>
            </a:r>
          </a:p>
          <a:p>
            <a:r>
              <a:rPr lang="en-US" altLang="ko-KR" sz="2400"/>
              <a:t>C++ reader</a:t>
            </a:r>
            <a:r>
              <a:rPr lang="ko-KR" altLang="en-US" sz="2400"/>
              <a:t>는 내부 바이너리를 읽어 </a:t>
            </a:r>
            <a:r>
              <a:rPr lang="en-US" altLang="ko-KR" sz="2400"/>
              <a:t>volume</a:t>
            </a:r>
            <a:r>
              <a:rPr lang="ko-KR" altLang="en-US" sz="2400"/>
              <a:t>과 </a:t>
            </a:r>
            <a:r>
              <a:rPr lang="en-US" altLang="ko-KR" sz="2400"/>
              <a:t>geometry</a:t>
            </a:r>
            <a:r>
              <a:rPr lang="ko-KR" altLang="en-US" sz="2400"/>
              <a:t>를 복원한다</a:t>
            </a:r>
          </a:p>
          <a:p>
            <a:r>
              <a:rPr lang="ko-KR" altLang="en-US" sz="2400"/>
              <a:t>따라서 </a:t>
            </a:r>
            <a:r>
              <a:rPr lang="en-US" altLang="ko-KR" sz="2400"/>
              <a:t>Slicer</a:t>
            </a:r>
            <a:r>
              <a:rPr lang="ko-KR" altLang="en-US" sz="2400"/>
              <a:t>에서 길이 측정이 가능하면 </a:t>
            </a:r>
            <a:r>
              <a:rPr lang="en-US" altLang="ko-KR" sz="2400"/>
              <a:t>geometry </a:t>
            </a:r>
            <a:r>
              <a:rPr lang="ko-KR" altLang="en-US" sz="2400"/>
              <a:t>해석이 성공한 것이다</a:t>
            </a:r>
          </a:p>
        </p:txBody>
      </p:sp>
    </p:spTree>
    <p:extLst>
      <p:ext uri="{BB962C8B-B14F-4D97-AF65-F5344CB8AC3E}">
        <p14:creationId xmlns:p14="http://schemas.microsoft.com/office/powerpoint/2010/main" val="382406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4821CB-2AD9-6BD1-AD7F-31922AB91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NRRD</a:t>
            </a:r>
            <a:r>
              <a:rPr lang="ko-KR" altLang="en-US"/>
              <a:t>에서 </a:t>
            </a:r>
            <a:r>
              <a:rPr lang="en-US" altLang="ko-KR"/>
              <a:t>voxel </a:t>
            </a:r>
            <a:r>
              <a:rPr lang="ko-KR" altLang="en-US"/>
              <a:t>간 거리가 </a:t>
            </a:r>
            <a:r>
              <a:rPr lang="en-US" altLang="ko-KR"/>
              <a:t>mm</a:t>
            </a:r>
            <a:r>
              <a:rPr lang="ko-KR" altLang="en-US"/>
              <a:t>가 되는 원리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A13D6F-1164-EE26-49BB-FA51852FE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400"/>
              <a:t>scan conversion </a:t>
            </a:r>
            <a:r>
              <a:rPr lang="ko-KR" altLang="en-US" sz="2400"/>
              <a:t>이후 </a:t>
            </a:r>
            <a:r>
              <a:rPr lang="en-US" altLang="ko-KR" sz="2400"/>
              <a:t>NRRD</a:t>
            </a:r>
            <a:r>
              <a:rPr lang="ko-KR" altLang="en-US" sz="2400"/>
              <a:t>는 보통 </a:t>
            </a:r>
            <a:r>
              <a:rPr lang="en-US" altLang="ko-KR" sz="2400"/>
              <a:t>Cartesian 3D volume</a:t>
            </a:r>
            <a:r>
              <a:rPr lang="ko-KR" altLang="en-US" sz="2400"/>
              <a:t>이다</a:t>
            </a:r>
          </a:p>
          <a:p>
            <a:r>
              <a:rPr lang="ko-KR" altLang="en-US" sz="2400"/>
              <a:t>각 축 </a:t>
            </a:r>
            <a:r>
              <a:rPr lang="en-US" altLang="ko-KR" sz="2400"/>
              <a:t>spacing</a:t>
            </a:r>
            <a:r>
              <a:rPr lang="ko-KR" altLang="en-US" sz="2400"/>
              <a:t>이 </a:t>
            </a:r>
            <a:r>
              <a:rPr lang="en-US" altLang="ko-KR" sz="2400"/>
              <a:t>x, y, z </a:t>
            </a:r>
            <a:r>
              <a:rPr lang="ko-KR" altLang="en-US" sz="2400"/>
              <a:t>방향 </a:t>
            </a:r>
            <a:r>
              <a:rPr lang="en-US" altLang="ko-KR" sz="2400"/>
              <a:t>voxel 1</a:t>
            </a:r>
            <a:r>
              <a:rPr lang="ko-KR" altLang="en-US" sz="2400"/>
              <a:t>칸당 실제 거리</a:t>
            </a:r>
            <a:r>
              <a:rPr lang="en-US" altLang="ko-KR" sz="2400"/>
              <a:t>(mm)</a:t>
            </a:r>
            <a:r>
              <a:rPr lang="ko-KR" altLang="en-US" sz="2400"/>
              <a:t>를 뜻한다</a:t>
            </a:r>
          </a:p>
          <a:p>
            <a:r>
              <a:rPr lang="ko-KR" altLang="en-US" sz="2400"/>
              <a:t>두 점의 </a:t>
            </a:r>
            <a:r>
              <a:rPr lang="en-US" altLang="ko-KR" sz="2400"/>
              <a:t>index </a:t>
            </a:r>
            <a:r>
              <a:rPr lang="ko-KR" altLang="en-US" sz="2400"/>
              <a:t>차이에 </a:t>
            </a:r>
            <a:r>
              <a:rPr lang="en-US" altLang="ko-KR" sz="2400"/>
              <a:t>spacing</a:t>
            </a:r>
            <a:r>
              <a:rPr lang="ko-KR" altLang="en-US" sz="2400"/>
              <a:t>을 곱하면 실제 길이를 계산할 수 있다</a:t>
            </a:r>
          </a:p>
          <a:p>
            <a:r>
              <a:rPr lang="en-US" altLang="ko-KR" sz="2400"/>
              <a:t>distance = sqrt((di*sx)^2 + (dj*sy)^2 + (dk*sz)^2)</a:t>
            </a:r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267257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8FB46-5F10-A4FC-D965-2E5D5B1F2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BAA49-5EC9-5C84-C6FE-F09E1ED48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400"/>
              <a:t>spacing</a:t>
            </a:r>
            <a:r>
              <a:rPr lang="ko-KR" altLang="en-US" sz="2400"/>
              <a:t>이 </a:t>
            </a:r>
            <a:r>
              <a:rPr lang="en-US" altLang="ko-KR" sz="2400"/>
              <a:t>0.5, 0.5, 0.8 mm</a:t>
            </a:r>
            <a:r>
              <a:rPr lang="ko-KR" altLang="en-US" sz="2400"/>
              <a:t>라고 가정한다</a:t>
            </a:r>
          </a:p>
          <a:p>
            <a:r>
              <a:rPr lang="en-US" altLang="ko-KR" sz="2400"/>
              <a:t>index </a:t>
            </a:r>
            <a:r>
              <a:rPr lang="ko-KR" altLang="en-US" sz="2400"/>
              <a:t>차이가 </a:t>
            </a:r>
            <a:r>
              <a:rPr lang="en-US" altLang="ko-KR" sz="2400"/>
              <a:t>10, 4, 3 voxel</a:t>
            </a:r>
            <a:r>
              <a:rPr lang="ko-KR" altLang="en-US" sz="2400"/>
              <a:t>이면</a:t>
            </a:r>
          </a:p>
          <a:p>
            <a:r>
              <a:rPr lang="ko-KR" altLang="en-US" sz="2400"/>
              <a:t>실제 거리는 </a:t>
            </a:r>
            <a:r>
              <a:rPr lang="en-US" altLang="ko-KR" sz="2400"/>
              <a:t>sqrt((10x0.5)^2 + (4x0.5)^2 + (3x0.8)^2)</a:t>
            </a:r>
            <a:r>
              <a:rPr lang="ko-KR" altLang="en-US" sz="2400"/>
              <a:t>다</a:t>
            </a:r>
          </a:p>
          <a:p>
            <a:r>
              <a:rPr lang="ko-KR" altLang="en-US" sz="2400"/>
              <a:t>계산 결과는 약 </a:t>
            </a:r>
            <a:r>
              <a:rPr lang="en-US" altLang="ko-KR" sz="2400"/>
              <a:t>5.90 mm</a:t>
            </a:r>
            <a:r>
              <a:rPr lang="ko-KR" altLang="en-US" sz="2400"/>
              <a:t>가 된다</a:t>
            </a:r>
          </a:p>
        </p:txBody>
      </p:sp>
    </p:spTree>
    <p:extLst>
      <p:ext uri="{BB962C8B-B14F-4D97-AF65-F5344CB8AC3E}">
        <p14:creationId xmlns:p14="http://schemas.microsoft.com/office/powerpoint/2010/main" val="2208209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A7A936-4236-6F64-BFFF-3C4C198E0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실무 권장 절차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541107-AF80-C174-CBCF-002148336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400"/>
              <a:t>DICOM </a:t>
            </a:r>
            <a:r>
              <a:rPr lang="ko-KR" altLang="en-US" sz="2400"/>
              <a:t>표준 태그와 </a:t>
            </a:r>
            <a:r>
              <a:rPr lang="en-US" altLang="ko-KR" sz="2400"/>
              <a:t>private creator </a:t>
            </a:r>
            <a:r>
              <a:rPr lang="ko-KR" altLang="en-US" sz="2400"/>
              <a:t>존재 여부를 먼저 확인한다</a:t>
            </a:r>
          </a:p>
          <a:p>
            <a:r>
              <a:rPr lang="en-US" altLang="ko-KR" sz="2400"/>
              <a:t>3D Slicer</a:t>
            </a:r>
            <a:r>
              <a:rPr lang="ko-KR" altLang="en-US" sz="2400"/>
              <a:t>와 </a:t>
            </a:r>
            <a:r>
              <a:rPr lang="en-US" altLang="ko-KR" sz="2400"/>
              <a:t>SlicerHeart</a:t>
            </a:r>
            <a:r>
              <a:rPr lang="ko-KR" altLang="en-US" sz="2400"/>
              <a:t>로 로딩해 </a:t>
            </a:r>
            <a:r>
              <a:rPr lang="en-US" altLang="ko-KR" sz="2400"/>
              <a:t>volume</a:t>
            </a:r>
            <a:r>
              <a:rPr lang="ko-KR" altLang="en-US" sz="2400"/>
              <a:t>과 </a:t>
            </a:r>
            <a:r>
              <a:rPr lang="en-US" altLang="ko-KR" sz="2400"/>
              <a:t>spacing</a:t>
            </a:r>
            <a:r>
              <a:rPr lang="ko-KR" altLang="en-US" sz="2400"/>
              <a:t>을 점검한다</a:t>
            </a:r>
          </a:p>
          <a:p>
            <a:r>
              <a:rPr lang="ko-KR" altLang="en-US" sz="2400"/>
              <a:t>필요하면 </a:t>
            </a:r>
            <a:r>
              <a:rPr lang="en-US" altLang="ko-KR" sz="2400"/>
              <a:t>NRRD</a:t>
            </a:r>
            <a:r>
              <a:rPr lang="ko-KR" altLang="en-US" sz="2400"/>
              <a:t>로 </a:t>
            </a:r>
            <a:r>
              <a:rPr lang="en-US" altLang="ko-KR" sz="2400"/>
              <a:t>export</a:t>
            </a:r>
            <a:r>
              <a:rPr lang="ko-KR" altLang="en-US" sz="2400"/>
              <a:t>해 후처리와 측정을 진행한다</a:t>
            </a:r>
          </a:p>
          <a:p>
            <a:r>
              <a:rPr lang="ko-KR" altLang="en-US" sz="2400"/>
              <a:t>정밀 연구가 필요하면 </a:t>
            </a:r>
            <a:r>
              <a:rPr lang="en-US" altLang="ko-KR" sz="2400"/>
              <a:t>private payload</a:t>
            </a:r>
            <a:r>
              <a:rPr lang="ko-KR" altLang="en-US" sz="2400"/>
              <a:t>를 직접 파싱해 원본 </a:t>
            </a:r>
            <a:r>
              <a:rPr lang="en-US" altLang="ko-KR" sz="2400"/>
              <a:t>geometry</a:t>
            </a:r>
            <a:r>
              <a:rPr lang="ko-KR" altLang="en-US" sz="2400"/>
              <a:t>를 검증한다</a:t>
            </a:r>
          </a:p>
        </p:txBody>
      </p:sp>
    </p:spTree>
    <p:extLst>
      <p:ext uri="{BB962C8B-B14F-4D97-AF65-F5344CB8AC3E}">
        <p14:creationId xmlns:p14="http://schemas.microsoft.com/office/powerpoint/2010/main" val="3403500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5324A6-D96D-1B0D-82B4-9240DA039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결론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D35D25-E8DF-4FBB-04DF-4A0C7A95F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400"/>
              <a:t>GE 3D TEE DICOM</a:t>
            </a:r>
            <a:r>
              <a:rPr lang="ko-KR" altLang="en-US" sz="2400"/>
              <a:t>은 표준 외피와 </a:t>
            </a:r>
            <a:r>
              <a:rPr lang="en-US" altLang="ko-KR" sz="2400"/>
              <a:t>private </a:t>
            </a:r>
            <a:r>
              <a:rPr lang="ko-KR" altLang="en-US" sz="2400"/>
              <a:t>핵심 </a:t>
            </a:r>
            <a:r>
              <a:rPr lang="en-US" altLang="ko-KR" sz="2400"/>
              <a:t>payload</a:t>
            </a:r>
            <a:r>
              <a:rPr lang="ko-KR" altLang="en-US" sz="2400"/>
              <a:t>가 공존하는 하이브리드 구조다</a:t>
            </a:r>
          </a:p>
          <a:p>
            <a:r>
              <a:rPr lang="ko-KR" altLang="en-US" sz="2400"/>
              <a:t>이 트로이 목마 구조는 </a:t>
            </a:r>
            <a:r>
              <a:rPr lang="en-US" altLang="ko-KR" sz="2400"/>
              <a:t>PACS </a:t>
            </a:r>
            <a:r>
              <a:rPr lang="ko-KR" altLang="en-US" sz="2400"/>
              <a:t>호환성과 벤더 고유 기술 보호를 동시에 만족시킨다</a:t>
            </a:r>
          </a:p>
          <a:p>
            <a:r>
              <a:rPr lang="en-US" altLang="ko-KR" sz="2400"/>
              <a:t>spacing </a:t>
            </a:r>
            <a:r>
              <a:rPr lang="ko-KR" altLang="en-US" sz="2400"/>
              <a:t>확보는 표준 태그 확인</a:t>
            </a:r>
            <a:r>
              <a:rPr lang="en-US" altLang="ko-KR" sz="2400"/>
              <a:t>, Slicer </a:t>
            </a:r>
            <a:r>
              <a:rPr lang="ko-KR" altLang="en-US" sz="2400"/>
              <a:t>활용</a:t>
            </a:r>
            <a:r>
              <a:rPr lang="en-US" altLang="ko-KR" sz="2400"/>
              <a:t>, private </a:t>
            </a:r>
            <a:r>
              <a:rPr lang="ko-KR" altLang="en-US" sz="2400"/>
              <a:t>파싱의 세 단계로 접근할 수 있다</a:t>
            </a:r>
          </a:p>
          <a:p>
            <a:r>
              <a:rPr lang="en-US" altLang="ko-KR" sz="2400"/>
              <a:t>NRRD spacing</a:t>
            </a:r>
            <a:r>
              <a:rPr lang="ko-KR" altLang="en-US" sz="2400"/>
              <a:t>은 </a:t>
            </a:r>
            <a:r>
              <a:rPr lang="en-US" altLang="ko-KR" sz="2400"/>
              <a:t>scan conversion </a:t>
            </a:r>
            <a:r>
              <a:rPr lang="ko-KR" altLang="en-US" sz="2400"/>
              <a:t>이후 실제 </a:t>
            </a:r>
            <a:r>
              <a:rPr lang="en-US" altLang="ko-KR" sz="2400"/>
              <a:t>voxel </a:t>
            </a:r>
            <a:r>
              <a:rPr lang="ko-KR" altLang="en-US" sz="2400"/>
              <a:t>간 </a:t>
            </a:r>
            <a:r>
              <a:rPr lang="en-US" altLang="ko-KR" sz="2400"/>
              <a:t>mm </a:t>
            </a:r>
            <a:r>
              <a:rPr lang="ko-KR" altLang="en-US" sz="2400"/>
              <a:t>거리 해석의 핵심이다</a:t>
            </a:r>
          </a:p>
        </p:txBody>
      </p:sp>
    </p:spTree>
    <p:extLst>
      <p:ext uri="{BB962C8B-B14F-4D97-AF65-F5344CB8AC3E}">
        <p14:creationId xmlns:p14="http://schemas.microsoft.com/office/powerpoint/2010/main" val="1243649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905</Words>
  <Application>Microsoft Office PowerPoint</Application>
  <PresentationFormat>와이드스크린</PresentationFormat>
  <Paragraphs>88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GE 3D TEE DICOM 구조 분석 및 Spacing 추출</vt:lpstr>
      <vt:lpstr>발표 목적</vt:lpstr>
      <vt:lpstr>DICOM이란 무엇인가</vt:lpstr>
      <vt:lpstr>왜 GE도 DICOM을 제공하는가</vt:lpstr>
      <vt:lpstr>DICOM의 기본 구조</vt:lpstr>
      <vt:lpstr>Public Tag와 Private Tag</vt:lpstr>
      <vt:lpstr>GE DICOM이 트로이 목마 구조를 띠는 이유</vt:lpstr>
      <vt:lpstr>트로이 목마 구조의 실제 모습</vt:lpstr>
      <vt:lpstr>왜 RadiAnt에서는 열리나</vt:lpstr>
      <vt:lpstr>GE 3D TEE 데이터의 실제 위치</vt:lpstr>
      <vt:lpstr>Spacing이란 무엇인가</vt:lpstr>
      <vt:lpstr>초음파 RAW에서 spacing이 더 어려운 이유</vt:lpstr>
      <vt:lpstr>Spacing을 얻는 현실적인 방법</vt:lpstr>
      <vt:lpstr>SlicerHeart 관점의 핵심 원리</vt:lpstr>
      <vt:lpstr>NRRD에서 voxel 간 거리가 mm가 되는 원리</vt:lpstr>
      <vt:lpstr>예시</vt:lpstr>
      <vt:lpstr>실무 권장 절차</vt:lpstr>
      <vt:lpstr>결론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김동현</dc:creator>
  <cp:lastModifiedBy>김동현</cp:lastModifiedBy>
  <cp:revision>1</cp:revision>
  <dcterms:created xsi:type="dcterms:W3CDTF">2026-04-17T13:19:53Z</dcterms:created>
  <dcterms:modified xsi:type="dcterms:W3CDTF">2026-04-17T13:19:53Z</dcterms:modified>
</cp:coreProperties>
</file>